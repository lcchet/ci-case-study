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61A"/>
    <a:srgbClr val="12569B"/>
    <a:srgbClr val="FDD491"/>
    <a:srgbClr val="FFFCF7"/>
    <a:srgbClr val="FEE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#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#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969A44-DB80-4A37-8CA1-F49DEA422A4F}" type="doc">
      <dgm:prSet loTypeId="urn:microsoft.com/office/officeart/2005/8/layout/hierarchy1" loCatId="hierarchy" qsTypeId="urn:microsoft.com/office/officeart/2005/8/quickstyle/simple4#2" qsCatId="simple" csTypeId="urn:microsoft.com/office/officeart/2005/8/colors/accent3_2#2" csCatId="accent3" phldr="1"/>
      <dgm:spPr/>
      <dgm:t>
        <a:bodyPr/>
        <a:lstStyle/>
        <a:p>
          <a:endParaRPr lang="en-US"/>
        </a:p>
      </dgm:t>
    </dgm:pt>
    <dgm:pt modelId="{1DE4E3AA-6901-49F5-BF5F-6CD08C2DA82B}">
      <dgm:prSet/>
      <dgm:spPr/>
      <dgm:t>
        <a:bodyPr/>
        <a:lstStyle/>
        <a:p>
          <a:r>
            <a:rPr lang="en-US" dirty="0" err="1"/>
            <a:t>LifeSecure</a:t>
          </a:r>
          <a:r>
            <a:rPr lang="en-US" dirty="0"/>
            <a:t> rider claims were paid for Early-stage CI, despite the rider covering only Major CI</a:t>
          </a:r>
        </a:p>
      </dgm:t>
    </dgm:pt>
    <dgm:pt modelId="{30275F3C-A4BC-40D0-8780-87BCCBB05177}" type="parTrans" cxnId="{4F3890E7-4D3D-44AB-99BC-6B3CBD495C51}">
      <dgm:prSet/>
      <dgm:spPr/>
      <dgm:t>
        <a:bodyPr/>
        <a:lstStyle/>
        <a:p>
          <a:endParaRPr lang="en-US"/>
        </a:p>
      </dgm:t>
    </dgm:pt>
    <dgm:pt modelId="{94BCDCF2-F55B-425A-B18A-932364F2D980}" type="sibTrans" cxnId="{4F3890E7-4D3D-44AB-99BC-6B3CBD495C51}">
      <dgm:prSet/>
      <dgm:spPr/>
      <dgm:t>
        <a:bodyPr/>
        <a:lstStyle/>
        <a:p>
          <a:endParaRPr lang="en-US"/>
        </a:p>
      </dgm:t>
    </dgm:pt>
    <dgm:pt modelId="{6BB6AFE1-EB79-49BC-9A9C-06EC8367033C}">
      <dgm:prSet/>
      <dgm:spPr/>
      <dgm:t>
        <a:bodyPr/>
        <a:lstStyle/>
        <a:p>
          <a:r>
            <a:rPr lang="en-US" dirty="0"/>
            <a:t>Claims paid for diagnoses occurring within the waiting period after policy issue date</a:t>
          </a:r>
        </a:p>
      </dgm:t>
    </dgm:pt>
    <dgm:pt modelId="{B6B2477B-33E2-464D-80D1-F90C7650921F}" type="parTrans" cxnId="{6E086496-5861-420E-A5BE-F04E30AE3F1A}">
      <dgm:prSet/>
      <dgm:spPr/>
      <dgm:t>
        <a:bodyPr/>
        <a:lstStyle/>
        <a:p>
          <a:endParaRPr lang="en-US"/>
        </a:p>
      </dgm:t>
    </dgm:pt>
    <dgm:pt modelId="{683167A5-1D4F-4305-A2E9-E3249AC81886}" type="sibTrans" cxnId="{6E086496-5861-420E-A5BE-F04E30AE3F1A}">
      <dgm:prSet/>
      <dgm:spPr/>
      <dgm:t>
        <a:bodyPr/>
        <a:lstStyle/>
        <a:p>
          <a:endParaRPr lang="en-US"/>
        </a:p>
      </dgm:t>
    </dgm:pt>
    <dgm:pt modelId="{E0BBD98E-531E-4C89-87DB-9581D4A15CA3}">
      <dgm:prSet/>
      <dgm:spPr/>
      <dgm:t>
        <a:bodyPr/>
        <a:lstStyle/>
        <a:p>
          <a:r>
            <a:rPr lang="en-US" dirty="0"/>
            <a:t>Claims paid where diagnosis occurred after policy had lapsed</a:t>
          </a:r>
        </a:p>
      </dgm:t>
    </dgm:pt>
    <dgm:pt modelId="{D758760C-1BAB-4698-8747-11F283BE3114}" type="parTrans" cxnId="{40C9E34B-61C5-43D4-94C0-E0F28290FEA6}">
      <dgm:prSet/>
      <dgm:spPr/>
      <dgm:t>
        <a:bodyPr/>
        <a:lstStyle/>
        <a:p>
          <a:endParaRPr lang="en-US"/>
        </a:p>
      </dgm:t>
    </dgm:pt>
    <dgm:pt modelId="{17547C22-26B4-47D8-AB24-4905C9895756}" type="sibTrans" cxnId="{40C9E34B-61C5-43D4-94C0-E0F28290FEA6}">
      <dgm:prSet/>
      <dgm:spPr/>
      <dgm:t>
        <a:bodyPr/>
        <a:lstStyle/>
        <a:p>
          <a:endParaRPr lang="en-US"/>
        </a:p>
      </dgm:t>
    </dgm:pt>
    <dgm:pt modelId="{BD776DFE-0F4A-44A6-A566-220E2674F0EF}">
      <dgm:prSet/>
      <dgm:spPr/>
      <dgm:t>
        <a:bodyPr/>
        <a:lstStyle/>
        <a:p>
          <a:r>
            <a:rPr lang="en-US"/>
            <a:t>Non-CI events are accepted (e.g. Common Cold) </a:t>
          </a:r>
          <a:endParaRPr lang="en-US" dirty="0"/>
        </a:p>
      </dgm:t>
    </dgm:pt>
    <dgm:pt modelId="{197819A0-7AB3-46AE-B340-B79DE3C29FB1}" type="parTrans" cxnId="{B864698C-4A98-4ED4-B5C4-36DC7B3499AC}">
      <dgm:prSet/>
      <dgm:spPr/>
      <dgm:t>
        <a:bodyPr/>
        <a:lstStyle/>
        <a:p>
          <a:endParaRPr lang="en-SG"/>
        </a:p>
      </dgm:t>
    </dgm:pt>
    <dgm:pt modelId="{63E24B59-8204-4B6A-82A1-AF13C01287D3}" type="sibTrans" cxnId="{B864698C-4A98-4ED4-B5C4-36DC7B3499AC}">
      <dgm:prSet/>
      <dgm:spPr/>
      <dgm:t>
        <a:bodyPr/>
        <a:lstStyle/>
        <a:p>
          <a:endParaRPr lang="en-SG"/>
        </a:p>
      </dgm:t>
    </dgm:pt>
    <dgm:pt modelId="{1C586DD2-E965-4146-8D98-D34D9C37B69A}">
      <dgm:prSet/>
      <dgm:spPr/>
      <dgm:t>
        <a:bodyPr/>
        <a:lstStyle/>
        <a:p>
          <a:r>
            <a:rPr lang="en-US" dirty="0" err="1"/>
            <a:t>LifeSecure</a:t>
          </a:r>
          <a:r>
            <a:rPr lang="en-US" dirty="0"/>
            <a:t> rider claims were paid for two claims</a:t>
          </a:r>
        </a:p>
      </dgm:t>
    </dgm:pt>
    <dgm:pt modelId="{60DCFF0B-1954-4E95-8BDA-D1E317824081}" type="parTrans" cxnId="{5948E5BB-C73B-4C2F-9D9D-4D7237BD89E7}">
      <dgm:prSet/>
      <dgm:spPr/>
      <dgm:t>
        <a:bodyPr/>
        <a:lstStyle/>
        <a:p>
          <a:endParaRPr lang="en-SG"/>
        </a:p>
      </dgm:t>
    </dgm:pt>
    <dgm:pt modelId="{25CA075B-E822-4416-8236-E88AEC2625A3}" type="sibTrans" cxnId="{5948E5BB-C73B-4C2F-9D9D-4D7237BD89E7}">
      <dgm:prSet/>
      <dgm:spPr/>
      <dgm:t>
        <a:bodyPr/>
        <a:lstStyle/>
        <a:p>
          <a:endParaRPr lang="en-SG"/>
        </a:p>
      </dgm:t>
    </dgm:pt>
    <dgm:pt modelId="{C174BAAA-3FFE-4158-B282-A7162C188E27}" type="pres">
      <dgm:prSet presAssocID="{A6969A44-DB80-4A37-8CA1-F49DEA422A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ACCC20E-FEFA-4BBB-906A-0C9C2C4691B8}" type="pres">
      <dgm:prSet presAssocID="{1DE4E3AA-6901-49F5-BF5F-6CD08C2DA82B}" presName="hierRoot1" presStyleCnt="0"/>
      <dgm:spPr/>
    </dgm:pt>
    <dgm:pt modelId="{0A2AAEF1-73E8-4C22-9542-84BFBEE77D26}" type="pres">
      <dgm:prSet presAssocID="{1DE4E3AA-6901-49F5-BF5F-6CD08C2DA82B}" presName="composite" presStyleCnt="0"/>
      <dgm:spPr/>
    </dgm:pt>
    <dgm:pt modelId="{C6BF17FA-F12B-4B59-AD87-D21121637E22}" type="pres">
      <dgm:prSet presAssocID="{1DE4E3AA-6901-49F5-BF5F-6CD08C2DA82B}" presName="background" presStyleLbl="node0" presStyleIdx="0" presStyleCnt="5"/>
      <dgm:spPr/>
    </dgm:pt>
    <dgm:pt modelId="{63EC6778-446D-4BD3-9308-23471043DA31}" type="pres">
      <dgm:prSet presAssocID="{1DE4E3AA-6901-49F5-BF5F-6CD08C2DA82B}" presName="text" presStyleLbl="fgAcc0" presStyleIdx="0" presStyleCnt="5" custLinFactNeighborX="12145" custLinFactNeighborY="-88830">
        <dgm:presLayoutVars>
          <dgm:chPref val="3"/>
        </dgm:presLayoutVars>
      </dgm:prSet>
      <dgm:spPr/>
    </dgm:pt>
    <dgm:pt modelId="{2250B581-1FD7-4DA3-B07A-41AA11648392}" type="pres">
      <dgm:prSet presAssocID="{1DE4E3AA-6901-49F5-BF5F-6CD08C2DA82B}" presName="hierChild2" presStyleCnt="0"/>
      <dgm:spPr/>
    </dgm:pt>
    <dgm:pt modelId="{762E5FD1-2CD9-4A73-9E2B-863960C48769}" type="pres">
      <dgm:prSet presAssocID="{1C586DD2-E965-4146-8D98-D34D9C37B69A}" presName="hierRoot1" presStyleCnt="0"/>
      <dgm:spPr/>
    </dgm:pt>
    <dgm:pt modelId="{E6BBC56F-00DA-4874-9E8A-24F17F88D6B5}" type="pres">
      <dgm:prSet presAssocID="{1C586DD2-E965-4146-8D98-D34D9C37B69A}" presName="composite" presStyleCnt="0"/>
      <dgm:spPr/>
    </dgm:pt>
    <dgm:pt modelId="{F9305390-7EB1-435C-9DB8-BA2DA608B21E}" type="pres">
      <dgm:prSet presAssocID="{1C586DD2-E965-4146-8D98-D34D9C37B69A}" presName="background" presStyleLbl="node0" presStyleIdx="1" presStyleCnt="5"/>
      <dgm:spPr/>
    </dgm:pt>
    <dgm:pt modelId="{8BE195D4-B981-4055-BAC6-29768D1E213C}" type="pres">
      <dgm:prSet presAssocID="{1C586DD2-E965-4146-8D98-D34D9C37B69A}" presName="text" presStyleLbl="fgAcc0" presStyleIdx="1" presStyleCnt="5" custLinFactNeighborX="88249" custLinFactNeighborY="-91321">
        <dgm:presLayoutVars>
          <dgm:chPref val="3"/>
        </dgm:presLayoutVars>
      </dgm:prSet>
      <dgm:spPr/>
    </dgm:pt>
    <dgm:pt modelId="{7398CA3F-751D-4461-ACC4-9EFA2787C3AF}" type="pres">
      <dgm:prSet presAssocID="{1C586DD2-E965-4146-8D98-D34D9C37B69A}" presName="hierChild2" presStyleCnt="0"/>
      <dgm:spPr/>
    </dgm:pt>
    <dgm:pt modelId="{F7BC77AA-1B7A-4015-A554-9D5ADE633644}" type="pres">
      <dgm:prSet presAssocID="{6BB6AFE1-EB79-49BC-9A9C-06EC8367033C}" presName="hierRoot1" presStyleCnt="0"/>
      <dgm:spPr/>
    </dgm:pt>
    <dgm:pt modelId="{23AA8CAB-4652-479E-A972-365005E7171E}" type="pres">
      <dgm:prSet presAssocID="{6BB6AFE1-EB79-49BC-9A9C-06EC8367033C}" presName="composite" presStyleCnt="0"/>
      <dgm:spPr/>
    </dgm:pt>
    <dgm:pt modelId="{C4C9991E-CDB3-4F9E-A25A-FE9DD7736099}" type="pres">
      <dgm:prSet presAssocID="{6BB6AFE1-EB79-49BC-9A9C-06EC8367033C}" presName="background" presStyleLbl="node0" presStyleIdx="2" presStyleCnt="5"/>
      <dgm:spPr/>
    </dgm:pt>
    <dgm:pt modelId="{9E471AD7-8B93-4FF1-ABB8-B116DD63E77A}" type="pres">
      <dgm:prSet presAssocID="{6BB6AFE1-EB79-49BC-9A9C-06EC8367033C}" presName="text" presStyleLbl="fgAcc0" presStyleIdx="2" presStyleCnt="5" custLinFactX="63423" custLinFactNeighborX="100000" custLinFactNeighborY="-90185">
        <dgm:presLayoutVars>
          <dgm:chPref val="3"/>
        </dgm:presLayoutVars>
      </dgm:prSet>
      <dgm:spPr/>
    </dgm:pt>
    <dgm:pt modelId="{D56D6198-D6D5-4B70-96CE-88FE918B9B93}" type="pres">
      <dgm:prSet presAssocID="{6BB6AFE1-EB79-49BC-9A9C-06EC8367033C}" presName="hierChild2" presStyleCnt="0"/>
      <dgm:spPr/>
    </dgm:pt>
    <dgm:pt modelId="{6ADB18D4-1DA6-4C62-AECF-FAAE0556E164}" type="pres">
      <dgm:prSet presAssocID="{E0BBD98E-531E-4C89-87DB-9581D4A15CA3}" presName="hierRoot1" presStyleCnt="0"/>
      <dgm:spPr/>
    </dgm:pt>
    <dgm:pt modelId="{F986E997-F7D7-4782-87BF-29FD35566985}" type="pres">
      <dgm:prSet presAssocID="{E0BBD98E-531E-4C89-87DB-9581D4A15CA3}" presName="composite" presStyleCnt="0"/>
      <dgm:spPr/>
    </dgm:pt>
    <dgm:pt modelId="{B20BCE32-1AA5-462E-BE6F-510B7AFAE7A1}" type="pres">
      <dgm:prSet presAssocID="{E0BBD98E-531E-4C89-87DB-9581D4A15CA3}" presName="background" presStyleLbl="node0" presStyleIdx="3" presStyleCnt="5"/>
      <dgm:spPr/>
    </dgm:pt>
    <dgm:pt modelId="{2FBF1971-4B6D-4D77-BA48-B4C7829347AC}" type="pres">
      <dgm:prSet presAssocID="{E0BBD98E-531E-4C89-87DB-9581D4A15CA3}" presName="text" presStyleLbl="fgAcc0" presStyleIdx="3" presStyleCnt="5" custLinFactX="-100000" custLinFactNeighborX="-146750" custLinFactNeighborY="83019">
        <dgm:presLayoutVars>
          <dgm:chPref val="3"/>
        </dgm:presLayoutVars>
      </dgm:prSet>
      <dgm:spPr/>
    </dgm:pt>
    <dgm:pt modelId="{05C39B99-9CCA-48CA-A35D-EDB08DEA9840}" type="pres">
      <dgm:prSet presAssocID="{E0BBD98E-531E-4C89-87DB-9581D4A15CA3}" presName="hierChild2" presStyleCnt="0"/>
      <dgm:spPr/>
    </dgm:pt>
    <dgm:pt modelId="{F66244B3-4876-4464-8288-3F4BF7B3E6C6}" type="pres">
      <dgm:prSet presAssocID="{BD776DFE-0F4A-44A6-A566-220E2674F0EF}" presName="hierRoot1" presStyleCnt="0"/>
      <dgm:spPr/>
    </dgm:pt>
    <dgm:pt modelId="{DE8BF81D-96E3-4245-A750-1A26CC015D7A}" type="pres">
      <dgm:prSet presAssocID="{BD776DFE-0F4A-44A6-A566-220E2674F0EF}" presName="composite" presStyleCnt="0"/>
      <dgm:spPr/>
    </dgm:pt>
    <dgm:pt modelId="{A8F7DA2B-AD0B-43CC-ACFE-3C102D0A9105}" type="pres">
      <dgm:prSet presAssocID="{BD776DFE-0F4A-44A6-A566-220E2674F0EF}" presName="background" presStyleLbl="node0" presStyleIdx="4" presStyleCnt="5"/>
      <dgm:spPr/>
    </dgm:pt>
    <dgm:pt modelId="{E1543FB4-CDDC-4329-9549-27A4F0A3A5CD}" type="pres">
      <dgm:prSet presAssocID="{BD776DFE-0F4A-44A6-A566-220E2674F0EF}" presName="text" presStyleLbl="fgAcc0" presStyleIdx="4" presStyleCnt="5" custLinFactX="-66059" custLinFactNeighborX="-100000" custLinFactNeighborY="81704">
        <dgm:presLayoutVars>
          <dgm:chPref val="3"/>
        </dgm:presLayoutVars>
      </dgm:prSet>
      <dgm:spPr/>
    </dgm:pt>
    <dgm:pt modelId="{DD82D4F8-CD0A-4D41-A280-E2625DDC60D2}" type="pres">
      <dgm:prSet presAssocID="{BD776DFE-0F4A-44A6-A566-220E2674F0EF}" presName="hierChild2" presStyleCnt="0"/>
      <dgm:spPr/>
    </dgm:pt>
  </dgm:ptLst>
  <dgm:cxnLst>
    <dgm:cxn modelId="{34C0E11C-8634-4452-9302-96758B9F2960}" type="presOf" srcId="{BD776DFE-0F4A-44A6-A566-220E2674F0EF}" destId="{E1543FB4-CDDC-4329-9549-27A4F0A3A5CD}" srcOrd="0" destOrd="0" presId="urn:microsoft.com/office/officeart/2005/8/layout/hierarchy1"/>
    <dgm:cxn modelId="{5C51A224-00FC-4577-8C16-E648DC3011B3}" type="presOf" srcId="{E0BBD98E-531E-4C89-87DB-9581D4A15CA3}" destId="{2FBF1971-4B6D-4D77-BA48-B4C7829347AC}" srcOrd="0" destOrd="0" presId="urn:microsoft.com/office/officeart/2005/8/layout/hierarchy1"/>
    <dgm:cxn modelId="{EF937229-249D-45DA-BF01-81C0636AA652}" type="presOf" srcId="{1DE4E3AA-6901-49F5-BF5F-6CD08C2DA82B}" destId="{63EC6778-446D-4BD3-9308-23471043DA31}" srcOrd="0" destOrd="0" presId="urn:microsoft.com/office/officeart/2005/8/layout/hierarchy1"/>
    <dgm:cxn modelId="{40C9E34B-61C5-43D4-94C0-E0F28290FEA6}" srcId="{A6969A44-DB80-4A37-8CA1-F49DEA422A4F}" destId="{E0BBD98E-531E-4C89-87DB-9581D4A15CA3}" srcOrd="3" destOrd="0" parTransId="{D758760C-1BAB-4698-8747-11F283BE3114}" sibTransId="{17547C22-26B4-47D8-AB24-4905C9895756}"/>
    <dgm:cxn modelId="{B864698C-4A98-4ED4-B5C4-36DC7B3499AC}" srcId="{A6969A44-DB80-4A37-8CA1-F49DEA422A4F}" destId="{BD776DFE-0F4A-44A6-A566-220E2674F0EF}" srcOrd="4" destOrd="0" parTransId="{197819A0-7AB3-46AE-B340-B79DE3C29FB1}" sibTransId="{63E24B59-8204-4B6A-82A1-AF13C01287D3}"/>
    <dgm:cxn modelId="{6E086496-5861-420E-A5BE-F04E30AE3F1A}" srcId="{A6969A44-DB80-4A37-8CA1-F49DEA422A4F}" destId="{6BB6AFE1-EB79-49BC-9A9C-06EC8367033C}" srcOrd="2" destOrd="0" parTransId="{B6B2477B-33E2-464D-80D1-F90C7650921F}" sibTransId="{683167A5-1D4F-4305-A2E9-E3249AC81886}"/>
    <dgm:cxn modelId="{894935A9-8957-44B1-B232-D3EA87012711}" type="presOf" srcId="{6BB6AFE1-EB79-49BC-9A9C-06EC8367033C}" destId="{9E471AD7-8B93-4FF1-ABB8-B116DD63E77A}" srcOrd="0" destOrd="0" presId="urn:microsoft.com/office/officeart/2005/8/layout/hierarchy1"/>
    <dgm:cxn modelId="{5948E5BB-C73B-4C2F-9D9D-4D7237BD89E7}" srcId="{A6969A44-DB80-4A37-8CA1-F49DEA422A4F}" destId="{1C586DD2-E965-4146-8D98-D34D9C37B69A}" srcOrd="1" destOrd="0" parTransId="{60DCFF0B-1954-4E95-8BDA-D1E317824081}" sibTransId="{25CA075B-E822-4416-8236-E88AEC2625A3}"/>
    <dgm:cxn modelId="{485E93C3-1D0F-471A-A5F0-709F266E7969}" type="presOf" srcId="{1C586DD2-E965-4146-8D98-D34D9C37B69A}" destId="{8BE195D4-B981-4055-BAC6-29768D1E213C}" srcOrd="0" destOrd="0" presId="urn:microsoft.com/office/officeart/2005/8/layout/hierarchy1"/>
    <dgm:cxn modelId="{4F3890E7-4D3D-44AB-99BC-6B3CBD495C51}" srcId="{A6969A44-DB80-4A37-8CA1-F49DEA422A4F}" destId="{1DE4E3AA-6901-49F5-BF5F-6CD08C2DA82B}" srcOrd="0" destOrd="0" parTransId="{30275F3C-A4BC-40D0-8780-87BCCBB05177}" sibTransId="{94BCDCF2-F55B-425A-B18A-932364F2D980}"/>
    <dgm:cxn modelId="{E618C8E9-79C2-496C-862A-3C04BB9D2B7E}" type="presOf" srcId="{A6969A44-DB80-4A37-8CA1-F49DEA422A4F}" destId="{C174BAAA-3FFE-4158-B282-A7162C188E27}" srcOrd="0" destOrd="0" presId="urn:microsoft.com/office/officeart/2005/8/layout/hierarchy1"/>
    <dgm:cxn modelId="{F49FC71E-2FB7-44E0-814B-A03DACB420EF}" type="presParOf" srcId="{C174BAAA-3FFE-4158-B282-A7162C188E27}" destId="{2ACCC20E-FEFA-4BBB-906A-0C9C2C4691B8}" srcOrd="0" destOrd="0" presId="urn:microsoft.com/office/officeart/2005/8/layout/hierarchy1"/>
    <dgm:cxn modelId="{60908C98-3B6A-438B-A29F-07DED5EA0B39}" type="presParOf" srcId="{2ACCC20E-FEFA-4BBB-906A-0C9C2C4691B8}" destId="{0A2AAEF1-73E8-4C22-9542-84BFBEE77D26}" srcOrd="0" destOrd="0" presId="urn:microsoft.com/office/officeart/2005/8/layout/hierarchy1"/>
    <dgm:cxn modelId="{B0102CFC-E061-4109-876D-2FF0CBF1712F}" type="presParOf" srcId="{0A2AAEF1-73E8-4C22-9542-84BFBEE77D26}" destId="{C6BF17FA-F12B-4B59-AD87-D21121637E22}" srcOrd="0" destOrd="0" presId="urn:microsoft.com/office/officeart/2005/8/layout/hierarchy1"/>
    <dgm:cxn modelId="{67E540C3-3311-473A-B1E5-96850FE5341C}" type="presParOf" srcId="{0A2AAEF1-73E8-4C22-9542-84BFBEE77D26}" destId="{63EC6778-446D-4BD3-9308-23471043DA31}" srcOrd="1" destOrd="0" presId="urn:microsoft.com/office/officeart/2005/8/layout/hierarchy1"/>
    <dgm:cxn modelId="{E30F0C3B-8129-4AF1-9CBD-5CDFAAC85235}" type="presParOf" srcId="{2ACCC20E-FEFA-4BBB-906A-0C9C2C4691B8}" destId="{2250B581-1FD7-4DA3-B07A-41AA11648392}" srcOrd="1" destOrd="0" presId="urn:microsoft.com/office/officeart/2005/8/layout/hierarchy1"/>
    <dgm:cxn modelId="{65999A77-3D0D-405E-82D8-BB014F93F2EC}" type="presParOf" srcId="{C174BAAA-3FFE-4158-B282-A7162C188E27}" destId="{762E5FD1-2CD9-4A73-9E2B-863960C48769}" srcOrd="1" destOrd="0" presId="urn:microsoft.com/office/officeart/2005/8/layout/hierarchy1"/>
    <dgm:cxn modelId="{C0E58189-78CF-4089-B643-DD9BEE526888}" type="presParOf" srcId="{762E5FD1-2CD9-4A73-9E2B-863960C48769}" destId="{E6BBC56F-00DA-4874-9E8A-24F17F88D6B5}" srcOrd="0" destOrd="0" presId="urn:microsoft.com/office/officeart/2005/8/layout/hierarchy1"/>
    <dgm:cxn modelId="{7FCDCB43-5EF5-4236-AC4F-FFE5D3BB9B97}" type="presParOf" srcId="{E6BBC56F-00DA-4874-9E8A-24F17F88D6B5}" destId="{F9305390-7EB1-435C-9DB8-BA2DA608B21E}" srcOrd="0" destOrd="0" presId="urn:microsoft.com/office/officeart/2005/8/layout/hierarchy1"/>
    <dgm:cxn modelId="{3AD247FD-51B8-45DC-99F3-7C9ABF7EF707}" type="presParOf" srcId="{E6BBC56F-00DA-4874-9E8A-24F17F88D6B5}" destId="{8BE195D4-B981-4055-BAC6-29768D1E213C}" srcOrd="1" destOrd="0" presId="urn:microsoft.com/office/officeart/2005/8/layout/hierarchy1"/>
    <dgm:cxn modelId="{BE33C825-077B-420D-9B33-ADC89E7D8F6B}" type="presParOf" srcId="{762E5FD1-2CD9-4A73-9E2B-863960C48769}" destId="{7398CA3F-751D-4461-ACC4-9EFA2787C3AF}" srcOrd="1" destOrd="0" presId="urn:microsoft.com/office/officeart/2005/8/layout/hierarchy1"/>
    <dgm:cxn modelId="{6878DC74-556F-4FEC-8C03-31FA9EA16BB4}" type="presParOf" srcId="{C174BAAA-3FFE-4158-B282-A7162C188E27}" destId="{F7BC77AA-1B7A-4015-A554-9D5ADE633644}" srcOrd="2" destOrd="0" presId="urn:microsoft.com/office/officeart/2005/8/layout/hierarchy1"/>
    <dgm:cxn modelId="{2D63342A-9D35-4CAF-A4D0-A1F6C4753B09}" type="presParOf" srcId="{F7BC77AA-1B7A-4015-A554-9D5ADE633644}" destId="{23AA8CAB-4652-479E-A972-365005E7171E}" srcOrd="0" destOrd="0" presId="urn:microsoft.com/office/officeart/2005/8/layout/hierarchy1"/>
    <dgm:cxn modelId="{C5BCD993-90DB-481F-8EEC-52CE1E608F3C}" type="presParOf" srcId="{23AA8CAB-4652-479E-A972-365005E7171E}" destId="{C4C9991E-CDB3-4F9E-A25A-FE9DD7736099}" srcOrd="0" destOrd="0" presId="urn:microsoft.com/office/officeart/2005/8/layout/hierarchy1"/>
    <dgm:cxn modelId="{DE5508DD-FCC1-4384-9807-DF43C90C011C}" type="presParOf" srcId="{23AA8CAB-4652-479E-A972-365005E7171E}" destId="{9E471AD7-8B93-4FF1-ABB8-B116DD63E77A}" srcOrd="1" destOrd="0" presId="urn:microsoft.com/office/officeart/2005/8/layout/hierarchy1"/>
    <dgm:cxn modelId="{62F5F0F7-7F7F-40C3-9DC9-DF717C28CE8A}" type="presParOf" srcId="{F7BC77AA-1B7A-4015-A554-9D5ADE633644}" destId="{D56D6198-D6D5-4B70-96CE-88FE918B9B93}" srcOrd="1" destOrd="0" presId="urn:microsoft.com/office/officeart/2005/8/layout/hierarchy1"/>
    <dgm:cxn modelId="{F2B45987-0275-4A1C-AEE8-BB99AC97A7AD}" type="presParOf" srcId="{C174BAAA-3FFE-4158-B282-A7162C188E27}" destId="{6ADB18D4-1DA6-4C62-AECF-FAAE0556E164}" srcOrd="3" destOrd="0" presId="urn:microsoft.com/office/officeart/2005/8/layout/hierarchy1"/>
    <dgm:cxn modelId="{9D71A8AB-47E2-4106-A4E5-897EDAD7E63C}" type="presParOf" srcId="{6ADB18D4-1DA6-4C62-AECF-FAAE0556E164}" destId="{F986E997-F7D7-4782-87BF-29FD35566985}" srcOrd="0" destOrd="0" presId="urn:microsoft.com/office/officeart/2005/8/layout/hierarchy1"/>
    <dgm:cxn modelId="{7AABF51F-A910-4C39-9A86-F071318B5910}" type="presParOf" srcId="{F986E997-F7D7-4782-87BF-29FD35566985}" destId="{B20BCE32-1AA5-462E-BE6F-510B7AFAE7A1}" srcOrd="0" destOrd="0" presId="urn:microsoft.com/office/officeart/2005/8/layout/hierarchy1"/>
    <dgm:cxn modelId="{6795347F-83DE-4653-BADE-C63E8FF7A678}" type="presParOf" srcId="{F986E997-F7D7-4782-87BF-29FD35566985}" destId="{2FBF1971-4B6D-4D77-BA48-B4C7829347AC}" srcOrd="1" destOrd="0" presId="urn:microsoft.com/office/officeart/2005/8/layout/hierarchy1"/>
    <dgm:cxn modelId="{7301191F-8B39-4772-AA07-52A859633D39}" type="presParOf" srcId="{6ADB18D4-1DA6-4C62-AECF-FAAE0556E164}" destId="{05C39B99-9CCA-48CA-A35D-EDB08DEA9840}" srcOrd="1" destOrd="0" presId="urn:microsoft.com/office/officeart/2005/8/layout/hierarchy1"/>
    <dgm:cxn modelId="{4A08A8C7-7306-4019-A677-DB219E101B42}" type="presParOf" srcId="{C174BAAA-3FFE-4158-B282-A7162C188E27}" destId="{F66244B3-4876-4464-8288-3F4BF7B3E6C6}" srcOrd="4" destOrd="0" presId="urn:microsoft.com/office/officeart/2005/8/layout/hierarchy1"/>
    <dgm:cxn modelId="{7BD3DC6F-0B27-4FB6-A48D-2377CC4A6924}" type="presParOf" srcId="{F66244B3-4876-4464-8288-3F4BF7B3E6C6}" destId="{DE8BF81D-96E3-4245-A750-1A26CC015D7A}" srcOrd="0" destOrd="0" presId="urn:microsoft.com/office/officeart/2005/8/layout/hierarchy1"/>
    <dgm:cxn modelId="{B280D88D-8877-4F14-A80A-1C5FA5558D87}" type="presParOf" srcId="{DE8BF81D-96E3-4245-A750-1A26CC015D7A}" destId="{A8F7DA2B-AD0B-43CC-ACFE-3C102D0A9105}" srcOrd="0" destOrd="0" presId="urn:microsoft.com/office/officeart/2005/8/layout/hierarchy1"/>
    <dgm:cxn modelId="{5D1DF398-0CB1-4750-ADFA-5D9B9A52C2EF}" type="presParOf" srcId="{DE8BF81D-96E3-4245-A750-1A26CC015D7A}" destId="{E1543FB4-CDDC-4329-9549-27A4F0A3A5CD}" srcOrd="1" destOrd="0" presId="urn:microsoft.com/office/officeart/2005/8/layout/hierarchy1"/>
    <dgm:cxn modelId="{FFF604A2-CA17-4B05-A6C4-51E6A88B2B9B}" type="presParOf" srcId="{F66244B3-4876-4464-8288-3F4BF7B3E6C6}" destId="{DD82D4F8-CD0A-4D41-A280-E2625DDC60D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969A44-DB80-4A37-8CA1-F49DEA422A4F}" type="doc">
      <dgm:prSet loTypeId="urn:microsoft.com/office/officeart/2005/8/layout/hierarchy1" loCatId="hierarchy" qsTypeId="urn:microsoft.com/office/officeart/2005/8/quickstyle/simple4#2" qsCatId="simple" csTypeId="urn:microsoft.com/office/officeart/2005/8/colors/accent3_2#2" csCatId="accent3" phldr="1"/>
      <dgm:spPr/>
      <dgm:t>
        <a:bodyPr/>
        <a:lstStyle/>
        <a:p>
          <a:endParaRPr lang="en-US"/>
        </a:p>
      </dgm:t>
    </dgm:pt>
    <dgm:pt modelId="{1DE4E3AA-6901-49F5-BF5F-6CD08C2DA82B}">
      <dgm:prSet/>
      <dgm:spPr/>
      <dgm:t>
        <a:bodyPr/>
        <a:lstStyle/>
        <a:p>
          <a:r>
            <a:rPr lang="en-SG" dirty="0"/>
            <a:t>Paid claims exist with no matching policy record in the policy database</a:t>
          </a:r>
          <a:endParaRPr lang="en-US" dirty="0"/>
        </a:p>
      </dgm:t>
    </dgm:pt>
    <dgm:pt modelId="{30275F3C-A4BC-40D0-8780-87BCCBB05177}" type="parTrans" cxnId="{4F3890E7-4D3D-44AB-99BC-6B3CBD495C51}">
      <dgm:prSet/>
      <dgm:spPr/>
      <dgm:t>
        <a:bodyPr/>
        <a:lstStyle/>
        <a:p>
          <a:endParaRPr lang="en-US"/>
        </a:p>
      </dgm:t>
    </dgm:pt>
    <dgm:pt modelId="{94BCDCF2-F55B-425A-B18A-932364F2D980}" type="sibTrans" cxnId="{4F3890E7-4D3D-44AB-99BC-6B3CBD495C51}">
      <dgm:prSet/>
      <dgm:spPr/>
      <dgm:t>
        <a:bodyPr/>
        <a:lstStyle/>
        <a:p>
          <a:endParaRPr lang="en-US"/>
        </a:p>
      </dgm:t>
    </dgm:pt>
    <dgm:pt modelId="{6BB6AFE1-EB79-49BC-9A9C-06EC8367033C}">
      <dgm:prSet/>
      <dgm:spPr/>
      <dgm:t>
        <a:bodyPr/>
        <a:lstStyle/>
        <a:p>
          <a:r>
            <a:rPr lang="en-SG" dirty="0"/>
            <a:t>Demographics (Gender, DOB) are different between policy and claims database</a:t>
          </a:r>
          <a:endParaRPr lang="en-US" dirty="0"/>
        </a:p>
      </dgm:t>
    </dgm:pt>
    <dgm:pt modelId="{B6B2477B-33E2-464D-80D1-F90C7650921F}" type="parTrans" cxnId="{6E086496-5861-420E-A5BE-F04E30AE3F1A}">
      <dgm:prSet/>
      <dgm:spPr/>
      <dgm:t>
        <a:bodyPr/>
        <a:lstStyle/>
        <a:p>
          <a:endParaRPr lang="en-US"/>
        </a:p>
      </dgm:t>
    </dgm:pt>
    <dgm:pt modelId="{683167A5-1D4F-4305-A2E9-E3249AC81886}" type="sibTrans" cxnId="{6E086496-5861-420E-A5BE-F04E30AE3F1A}">
      <dgm:prSet/>
      <dgm:spPr/>
      <dgm:t>
        <a:bodyPr/>
        <a:lstStyle/>
        <a:p>
          <a:endParaRPr lang="en-US"/>
        </a:p>
      </dgm:t>
    </dgm:pt>
    <dgm:pt modelId="{E0BBD98E-531E-4C89-87DB-9581D4A15CA3}">
      <dgm:prSet/>
      <dgm:spPr/>
      <dgm:t>
        <a:bodyPr/>
        <a:lstStyle/>
        <a:p>
          <a:r>
            <a:rPr lang="en-SG" dirty="0"/>
            <a:t>Missing input validation allows physically impossible metrics and invalid categorization codes to enter the system</a:t>
          </a:r>
          <a:endParaRPr lang="en-US" dirty="0"/>
        </a:p>
      </dgm:t>
    </dgm:pt>
    <dgm:pt modelId="{D758760C-1BAB-4698-8747-11F283BE3114}" type="parTrans" cxnId="{40C9E34B-61C5-43D4-94C0-E0F28290FEA6}">
      <dgm:prSet/>
      <dgm:spPr/>
      <dgm:t>
        <a:bodyPr/>
        <a:lstStyle/>
        <a:p>
          <a:endParaRPr lang="en-US"/>
        </a:p>
      </dgm:t>
    </dgm:pt>
    <dgm:pt modelId="{17547C22-26B4-47D8-AB24-4905C9895756}" type="sibTrans" cxnId="{40C9E34B-61C5-43D4-94C0-E0F28290FEA6}">
      <dgm:prSet/>
      <dgm:spPr/>
      <dgm:t>
        <a:bodyPr/>
        <a:lstStyle/>
        <a:p>
          <a:endParaRPr lang="en-US"/>
        </a:p>
      </dgm:t>
    </dgm:pt>
    <dgm:pt modelId="{C174BAAA-3FFE-4158-B282-A7162C188E27}" type="pres">
      <dgm:prSet presAssocID="{A6969A44-DB80-4A37-8CA1-F49DEA422A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ACCC20E-FEFA-4BBB-906A-0C9C2C4691B8}" type="pres">
      <dgm:prSet presAssocID="{1DE4E3AA-6901-49F5-BF5F-6CD08C2DA82B}" presName="hierRoot1" presStyleCnt="0"/>
      <dgm:spPr/>
    </dgm:pt>
    <dgm:pt modelId="{0A2AAEF1-73E8-4C22-9542-84BFBEE77D26}" type="pres">
      <dgm:prSet presAssocID="{1DE4E3AA-6901-49F5-BF5F-6CD08C2DA82B}" presName="composite" presStyleCnt="0"/>
      <dgm:spPr/>
    </dgm:pt>
    <dgm:pt modelId="{C6BF17FA-F12B-4B59-AD87-D21121637E22}" type="pres">
      <dgm:prSet presAssocID="{1DE4E3AA-6901-49F5-BF5F-6CD08C2DA82B}" presName="background" presStyleLbl="node0" presStyleIdx="0" presStyleCnt="3"/>
      <dgm:spPr/>
    </dgm:pt>
    <dgm:pt modelId="{63EC6778-446D-4BD3-9308-23471043DA31}" type="pres">
      <dgm:prSet presAssocID="{1DE4E3AA-6901-49F5-BF5F-6CD08C2DA82B}" presName="text" presStyleLbl="fgAcc0" presStyleIdx="0" presStyleCnt="3">
        <dgm:presLayoutVars>
          <dgm:chPref val="3"/>
        </dgm:presLayoutVars>
      </dgm:prSet>
      <dgm:spPr/>
    </dgm:pt>
    <dgm:pt modelId="{2250B581-1FD7-4DA3-B07A-41AA11648392}" type="pres">
      <dgm:prSet presAssocID="{1DE4E3AA-6901-49F5-BF5F-6CD08C2DA82B}" presName="hierChild2" presStyleCnt="0"/>
      <dgm:spPr/>
    </dgm:pt>
    <dgm:pt modelId="{F7BC77AA-1B7A-4015-A554-9D5ADE633644}" type="pres">
      <dgm:prSet presAssocID="{6BB6AFE1-EB79-49BC-9A9C-06EC8367033C}" presName="hierRoot1" presStyleCnt="0"/>
      <dgm:spPr/>
    </dgm:pt>
    <dgm:pt modelId="{23AA8CAB-4652-479E-A972-365005E7171E}" type="pres">
      <dgm:prSet presAssocID="{6BB6AFE1-EB79-49BC-9A9C-06EC8367033C}" presName="composite" presStyleCnt="0"/>
      <dgm:spPr/>
    </dgm:pt>
    <dgm:pt modelId="{C4C9991E-CDB3-4F9E-A25A-FE9DD7736099}" type="pres">
      <dgm:prSet presAssocID="{6BB6AFE1-EB79-49BC-9A9C-06EC8367033C}" presName="background" presStyleLbl="node0" presStyleIdx="1" presStyleCnt="3"/>
      <dgm:spPr/>
    </dgm:pt>
    <dgm:pt modelId="{9E471AD7-8B93-4FF1-ABB8-B116DD63E77A}" type="pres">
      <dgm:prSet presAssocID="{6BB6AFE1-EB79-49BC-9A9C-06EC8367033C}" presName="text" presStyleLbl="fgAcc0" presStyleIdx="1" presStyleCnt="3">
        <dgm:presLayoutVars>
          <dgm:chPref val="3"/>
        </dgm:presLayoutVars>
      </dgm:prSet>
      <dgm:spPr/>
    </dgm:pt>
    <dgm:pt modelId="{D56D6198-D6D5-4B70-96CE-88FE918B9B93}" type="pres">
      <dgm:prSet presAssocID="{6BB6AFE1-EB79-49BC-9A9C-06EC8367033C}" presName="hierChild2" presStyleCnt="0"/>
      <dgm:spPr/>
    </dgm:pt>
    <dgm:pt modelId="{6ADB18D4-1DA6-4C62-AECF-FAAE0556E164}" type="pres">
      <dgm:prSet presAssocID="{E0BBD98E-531E-4C89-87DB-9581D4A15CA3}" presName="hierRoot1" presStyleCnt="0"/>
      <dgm:spPr/>
    </dgm:pt>
    <dgm:pt modelId="{F986E997-F7D7-4782-87BF-29FD35566985}" type="pres">
      <dgm:prSet presAssocID="{E0BBD98E-531E-4C89-87DB-9581D4A15CA3}" presName="composite" presStyleCnt="0"/>
      <dgm:spPr/>
    </dgm:pt>
    <dgm:pt modelId="{B20BCE32-1AA5-462E-BE6F-510B7AFAE7A1}" type="pres">
      <dgm:prSet presAssocID="{E0BBD98E-531E-4C89-87DB-9581D4A15CA3}" presName="background" presStyleLbl="node0" presStyleIdx="2" presStyleCnt="3"/>
      <dgm:spPr/>
    </dgm:pt>
    <dgm:pt modelId="{2FBF1971-4B6D-4D77-BA48-B4C7829347AC}" type="pres">
      <dgm:prSet presAssocID="{E0BBD98E-531E-4C89-87DB-9581D4A15CA3}" presName="text" presStyleLbl="fgAcc0" presStyleIdx="2" presStyleCnt="3">
        <dgm:presLayoutVars>
          <dgm:chPref val="3"/>
        </dgm:presLayoutVars>
      </dgm:prSet>
      <dgm:spPr/>
    </dgm:pt>
    <dgm:pt modelId="{05C39B99-9CCA-48CA-A35D-EDB08DEA9840}" type="pres">
      <dgm:prSet presAssocID="{E0BBD98E-531E-4C89-87DB-9581D4A15CA3}" presName="hierChild2" presStyleCnt="0"/>
      <dgm:spPr/>
    </dgm:pt>
  </dgm:ptLst>
  <dgm:cxnLst>
    <dgm:cxn modelId="{5C51A224-00FC-4577-8C16-E648DC3011B3}" type="presOf" srcId="{E0BBD98E-531E-4C89-87DB-9581D4A15CA3}" destId="{2FBF1971-4B6D-4D77-BA48-B4C7829347AC}" srcOrd="0" destOrd="0" presId="urn:microsoft.com/office/officeart/2005/8/layout/hierarchy1"/>
    <dgm:cxn modelId="{EF937229-249D-45DA-BF01-81C0636AA652}" type="presOf" srcId="{1DE4E3AA-6901-49F5-BF5F-6CD08C2DA82B}" destId="{63EC6778-446D-4BD3-9308-23471043DA31}" srcOrd="0" destOrd="0" presId="urn:microsoft.com/office/officeart/2005/8/layout/hierarchy1"/>
    <dgm:cxn modelId="{40C9E34B-61C5-43D4-94C0-E0F28290FEA6}" srcId="{A6969A44-DB80-4A37-8CA1-F49DEA422A4F}" destId="{E0BBD98E-531E-4C89-87DB-9581D4A15CA3}" srcOrd="2" destOrd="0" parTransId="{D758760C-1BAB-4698-8747-11F283BE3114}" sibTransId="{17547C22-26B4-47D8-AB24-4905C9895756}"/>
    <dgm:cxn modelId="{6E086496-5861-420E-A5BE-F04E30AE3F1A}" srcId="{A6969A44-DB80-4A37-8CA1-F49DEA422A4F}" destId="{6BB6AFE1-EB79-49BC-9A9C-06EC8367033C}" srcOrd="1" destOrd="0" parTransId="{B6B2477B-33E2-464D-80D1-F90C7650921F}" sibTransId="{683167A5-1D4F-4305-A2E9-E3249AC81886}"/>
    <dgm:cxn modelId="{894935A9-8957-44B1-B232-D3EA87012711}" type="presOf" srcId="{6BB6AFE1-EB79-49BC-9A9C-06EC8367033C}" destId="{9E471AD7-8B93-4FF1-ABB8-B116DD63E77A}" srcOrd="0" destOrd="0" presId="urn:microsoft.com/office/officeart/2005/8/layout/hierarchy1"/>
    <dgm:cxn modelId="{4F3890E7-4D3D-44AB-99BC-6B3CBD495C51}" srcId="{A6969A44-DB80-4A37-8CA1-F49DEA422A4F}" destId="{1DE4E3AA-6901-49F5-BF5F-6CD08C2DA82B}" srcOrd="0" destOrd="0" parTransId="{30275F3C-A4BC-40D0-8780-87BCCBB05177}" sibTransId="{94BCDCF2-F55B-425A-B18A-932364F2D980}"/>
    <dgm:cxn modelId="{E618C8E9-79C2-496C-862A-3C04BB9D2B7E}" type="presOf" srcId="{A6969A44-DB80-4A37-8CA1-F49DEA422A4F}" destId="{C174BAAA-3FFE-4158-B282-A7162C188E27}" srcOrd="0" destOrd="0" presId="urn:microsoft.com/office/officeart/2005/8/layout/hierarchy1"/>
    <dgm:cxn modelId="{F49FC71E-2FB7-44E0-814B-A03DACB420EF}" type="presParOf" srcId="{C174BAAA-3FFE-4158-B282-A7162C188E27}" destId="{2ACCC20E-FEFA-4BBB-906A-0C9C2C4691B8}" srcOrd="0" destOrd="0" presId="urn:microsoft.com/office/officeart/2005/8/layout/hierarchy1"/>
    <dgm:cxn modelId="{60908C98-3B6A-438B-A29F-07DED5EA0B39}" type="presParOf" srcId="{2ACCC20E-FEFA-4BBB-906A-0C9C2C4691B8}" destId="{0A2AAEF1-73E8-4C22-9542-84BFBEE77D26}" srcOrd="0" destOrd="0" presId="urn:microsoft.com/office/officeart/2005/8/layout/hierarchy1"/>
    <dgm:cxn modelId="{B0102CFC-E061-4109-876D-2FF0CBF1712F}" type="presParOf" srcId="{0A2AAEF1-73E8-4C22-9542-84BFBEE77D26}" destId="{C6BF17FA-F12B-4B59-AD87-D21121637E22}" srcOrd="0" destOrd="0" presId="urn:microsoft.com/office/officeart/2005/8/layout/hierarchy1"/>
    <dgm:cxn modelId="{67E540C3-3311-473A-B1E5-96850FE5341C}" type="presParOf" srcId="{0A2AAEF1-73E8-4C22-9542-84BFBEE77D26}" destId="{63EC6778-446D-4BD3-9308-23471043DA31}" srcOrd="1" destOrd="0" presId="urn:microsoft.com/office/officeart/2005/8/layout/hierarchy1"/>
    <dgm:cxn modelId="{E30F0C3B-8129-4AF1-9CBD-5CDFAAC85235}" type="presParOf" srcId="{2ACCC20E-FEFA-4BBB-906A-0C9C2C4691B8}" destId="{2250B581-1FD7-4DA3-B07A-41AA11648392}" srcOrd="1" destOrd="0" presId="urn:microsoft.com/office/officeart/2005/8/layout/hierarchy1"/>
    <dgm:cxn modelId="{6878DC74-556F-4FEC-8C03-31FA9EA16BB4}" type="presParOf" srcId="{C174BAAA-3FFE-4158-B282-A7162C188E27}" destId="{F7BC77AA-1B7A-4015-A554-9D5ADE633644}" srcOrd="1" destOrd="0" presId="urn:microsoft.com/office/officeart/2005/8/layout/hierarchy1"/>
    <dgm:cxn modelId="{2D63342A-9D35-4CAF-A4D0-A1F6C4753B09}" type="presParOf" srcId="{F7BC77AA-1B7A-4015-A554-9D5ADE633644}" destId="{23AA8CAB-4652-479E-A972-365005E7171E}" srcOrd="0" destOrd="0" presId="urn:microsoft.com/office/officeart/2005/8/layout/hierarchy1"/>
    <dgm:cxn modelId="{C5BCD993-90DB-481F-8EEC-52CE1E608F3C}" type="presParOf" srcId="{23AA8CAB-4652-479E-A972-365005E7171E}" destId="{C4C9991E-CDB3-4F9E-A25A-FE9DD7736099}" srcOrd="0" destOrd="0" presId="urn:microsoft.com/office/officeart/2005/8/layout/hierarchy1"/>
    <dgm:cxn modelId="{DE5508DD-FCC1-4384-9807-DF43C90C011C}" type="presParOf" srcId="{23AA8CAB-4652-479E-A972-365005E7171E}" destId="{9E471AD7-8B93-4FF1-ABB8-B116DD63E77A}" srcOrd="1" destOrd="0" presId="urn:microsoft.com/office/officeart/2005/8/layout/hierarchy1"/>
    <dgm:cxn modelId="{62F5F0F7-7F7F-40C3-9DC9-DF717C28CE8A}" type="presParOf" srcId="{F7BC77AA-1B7A-4015-A554-9D5ADE633644}" destId="{D56D6198-D6D5-4B70-96CE-88FE918B9B93}" srcOrd="1" destOrd="0" presId="urn:microsoft.com/office/officeart/2005/8/layout/hierarchy1"/>
    <dgm:cxn modelId="{F2B45987-0275-4A1C-AEE8-BB99AC97A7AD}" type="presParOf" srcId="{C174BAAA-3FFE-4158-B282-A7162C188E27}" destId="{6ADB18D4-1DA6-4C62-AECF-FAAE0556E164}" srcOrd="2" destOrd="0" presId="urn:microsoft.com/office/officeart/2005/8/layout/hierarchy1"/>
    <dgm:cxn modelId="{9D71A8AB-47E2-4106-A4E5-897EDAD7E63C}" type="presParOf" srcId="{6ADB18D4-1DA6-4C62-AECF-FAAE0556E164}" destId="{F986E997-F7D7-4782-87BF-29FD35566985}" srcOrd="0" destOrd="0" presId="urn:microsoft.com/office/officeart/2005/8/layout/hierarchy1"/>
    <dgm:cxn modelId="{7AABF51F-A910-4C39-9A86-F071318B5910}" type="presParOf" srcId="{F986E997-F7D7-4782-87BF-29FD35566985}" destId="{B20BCE32-1AA5-462E-BE6F-510B7AFAE7A1}" srcOrd="0" destOrd="0" presId="urn:microsoft.com/office/officeart/2005/8/layout/hierarchy1"/>
    <dgm:cxn modelId="{6795347F-83DE-4653-BADE-C63E8FF7A678}" type="presParOf" srcId="{F986E997-F7D7-4782-87BF-29FD35566985}" destId="{2FBF1971-4B6D-4D77-BA48-B4C7829347AC}" srcOrd="1" destOrd="0" presId="urn:microsoft.com/office/officeart/2005/8/layout/hierarchy1"/>
    <dgm:cxn modelId="{7301191F-8B39-4772-AA07-52A859633D39}" type="presParOf" srcId="{6ADB18D4-1DA6-4C62-AECF-FAAE0556E164}" destId="{05C39B99-9CCA-48CA-A35D-EDB08DEA98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969A44-DB80-4A37-8CA1-F49DEA422A4F}" type="doc">
      <dgm:prSet loTypeId="urn:microsoft.com/office/officeart/2005/8/layout/hierarchy1" loCatId="hierarchy" qsTypeId="urn:microsoft.com/office/officeart/2005/8/quickstyle/simple4#2" qsCatId="simple" csTypeId="urn:microsoft.com/office/officeart/2005/8/colors/accent3_2#2" csCatId="accent3" phldr="1"/>
      <dgm:spPr/>
      <dgm:t>
        <a:bodyPr/>
        <a:lstStyle/>
        <a:p>
          <a:endParaRPr lang="en-US"/>
        </a:p>
      </dgm:t>
    </dgm:pt>
    <dgm:pt modelId="{1DE4E3AA-6901-49F5-BF5F-6CD08C2DA82B}">
      <dgm:prSet/>
      <dgm:spPr/>
      <dgm:t>
        <a:bodyPr/>
        <a:lstStyle/>
        <a:p>
          <a:r>
            <a:rPr lang="en-SG" dirty="0"/>
            <a:t>Hard-code policy terms (e.g., </a:t>
          </a:r>
          <a:r>
            <a:rPr lang="en-SG" dirty="0" err="1"/>
            <a:t>LifeSecure</a:t>
          </a:r>
          <a:r>
            <a:rPr lang="en-SG" dirty="0"/>
            <a:t> = Major CI only) directly into the claims approval system</a:t>
          </a:r>
          <a:endParaRPr lang="en-US" dirty="0"/>
        </a:p>
      </dgm:t>
    </dgm:pt>
    <dgm:pt modelId="{30275F3C-A4BC-40D0-8780-87BCCBB05177}" type="parTrans" cxnId="{4F3890E7-4D3D-44AB-99BC-6B3CBD495C51}">
      <dgm:prSet/>
      <dgm:spPr/>
      <dgm:t>
        <a:bodyPr/>
        <a:lstStyle/>
        <a:p>
          <a:endParaRPr lang="en-US"/>
        </a:p>
      </dgm:t>
    </dgm:pt>
    <dgm:pt modelId="{94BCDCF2-F55B-425A-B18A-932364F2D980}" type="sibTrans" cxnId="{4F3890E7-4D3D-44AB-99BC-6B3CBD495C51}">
      <dgm:prSet/>
      <dgm:spPr/>
      <dgm:t>
        <a:bodyPr/>
        <a:lstStyle/>
        <a:p>
          <a:endParaRPr lang="en-US"/>
        </a:p>
      </dgm:t>
    </dgm:pt>
    <dgm:pt modelId="{6BB6AFE1-EB79-49BC-9A9C-06EC8367033C}">
      <dgm:prSet/>
      <dgm:spPr/>
      <dgm:t>
        <a:bodyPr/>
        <a:lstStyle/>
        <a:p>
          <a:r>
            <a:rPr lang="en-SG" dirty="0"/>
            <a:t>Implement a daily automated check preventing claims approval from overriding a 'Lapsed' status</a:t>
          </a:r>
          <a:endParaRPr lang="en-US" dirty="0"/>
        </a:p>
      </dgm:t>
    </dgm:pt>
    <dgm:pt modelId="{B6B2477B-33E2-464D-80D1-F90C7650921F}" type="parTrans" cxnId="{6E086496-5861-420E-A5BE-F04E30AE3F1A}">
      <dgm:prSet/>
      <dgm:spPr/>
      <dgm:t>
        <a:bodyPr/>
        <a:lstStyle/>
        <a:p>
          <a:endParaRPr lang="en-US"/>
        </a:p>
      </dgm:t>
    </dgm:pt>
    <dgm:pt modelId="{683167A5-1D4F-4305-A2E9-E3249AC81886}" type="sibTrans" cxnId="{6E086496-5861-420E-A5BE-F04E30AE3F1A}">
      <dgm:prSet/>
      <dgm:spPr/>
      <dgm:t>
        <a:bodyPr/>
        <a:lstStyle/>
        <a:p>
          <a:endParaRPr lang="en-US"/>
        </a:p>
      </dgm:t>
    </dgm:pt>
    <dgm:pt modelId="{E0BBD98E-531E-4C89-87DB-9581D4A15CA3}">
      <dgm:prSet/>
      <dgm:spPr/>
      <dgm:t>
        <a:bodyPr/>
        <a:lstStyle/>
        <a:p>
          <a:r>
            <a:rPr lang="en-SG" dirty="0"/>
            <a:t>Deploy a quarterly dashboard to track portfolio incidence and flag operational anomalies in real-time</a:t>
          </a:r>
          <a:endParaRPr lang="en-US" dirty="0"/>
        </a:p>
      </dgm:t>
    </dgm:pt>
    <dgm:pt modelId="{D758760C-1BAB-4698-8747-11F283BE3114}" type="parTrans" cxnId="{40C9E34B-61C5-43D4-94C0-E0F28290FEA6}">
      <dgm:prSet/>
      <dgm:spPr/>
      <dgm:t>
        <a:bodyPr/>
        <a:lstStyle/>
        <a:p>
          <a:endParaRPr lang="en-US"/>
        </a:p>
      </dgm:t>
    </dgm:pt>
    <dgm:pt modelId="{17547C22-26B4-47D8-AB24-4905C9895756}" type="sibTrans" cxnId="{40C9E34B-61C5-43D4-94C0-E0F28290FEA6}">
      <dgm:prSet/>
      <dgm:spPr/>
      <dgm:t>
        <a:bodyPr/>
        <a:lstStyle/>
        <a:p>
          <a:endParaRPr lang="en-US"/>
        </a:p>
      </dgm:t>
    </dgm:pt>
    <dgm:pt modelId="{C174BAAA-3FFE-4158-B282-A7162C188E27}" type="pres">
      <dgm:prSet presAssocID="{A6969A44-DB80-4A37-8CA1-F49DEA422A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ACCC20E-FEFA-4BBB-906A-0C9C2C4691B8}" type="pres">
      <dgm:prSet presAssocID="{1DE4E3AA-6901-49F5-BF5F-6CD08C2DA82B}" presName="hierRoot1" presStyleCnt="0"/>
      <dgm:spPr/>
    </dgm:pt>
    <dgm:pt modelId="{0A2AAEF1-73E8-4C22-9542-84BFBEE77D26}" type="pres">
      <dgm:prSet presAssocID="{1DE4E3AA-6901-49F5-BF5F-6CD08C2DA82B}" presName="composite" presStyleCnt="0"/>
      <dgm:spPr/>
    </dgm:pt>
    <dgm:pt modelId="{C6BF17FA-F12B-4B59-AD87-D21121637E22}" type="pres">
      <dgm:prSet presAssocID="{1DE4E3AA-6901-49F5-BF5F-6CD08C2DA82B}" presName="background" presStyleLbl="node0" presStyleIdx="0" presStyleCnt="3"/>
      <dgm:spPr/>
    </dgm:pt>
    <dgm:pt modelId="{63EC6778-446D-4BD3-9308-23471043DA31}" type="pres">
      <dgm:prSet presAssocID="{1DE4E3AA-6901-49F5-BF5F-6CD08C2DA82B}" presName="text" presStyleLbl="fgAcc0" presStyleIdx="0" presStyleCnt="3">
        <dgm:presLayoutVars>
          <dgm:chPref val="3"/>
        </dgm:presLayoutVars>
      </dgm:prSet>
      <dgm:spPr/>
    </dgm:pt>
    <dgm:pt modelId="{2250B581-1FD7-4DA3-B07A-41AA11648392}" type="pres">
      <dgm:prSet presAssocID="{1DE4E3AA-6901-49F5-BF5F-6CD08C2DA82B}" presName="hierChild2" presStyleCnt="0"/>
      <dgm:spPr/>
    </dgm:pt>
    <dgm:pt modelId="{F7BC77AA-1B7A-4015-A554-9D5ADE633644}" type="pres">
      <dgm:prSet presAssocID="{6BB6AFE1-EB79-49BC-9A9C-06EC8367033C}" presName="hierRoot1" presStyleCnt="0"/>
      <dgm:spPr/>
    </dgm:pt>
    <dgm:pt modelId="{23AA8CAB-4652-479E-A972-365005E7171E}" type="pres">
      <dgm:prSet presAssocID="{6BB6AFE1-EB79-49BC-9A9C-06EC8367033C}" presName="composite" presStyleCnt="0"/>
      <dgm:spPr/>
    </dgm:pt>
    <dgm:pt modelId="{C4C9991E-CDB3-4F9E-A25A-FE9DD7736099}" type="pres">
      <dgm:prSet presAssocID="{6BB6AFE1-EB79-49BC-9A9C-06EC8367033C}" presName="background" presStyleLbl="node0" presStyleIdx="1" presStyleCnt="3"/>
      <dgm:spPr/>
    </dgm:pt>
    <dgm:pt modelId="{9E471AD7-8B93-4FF1-ABB8-B116DD63E77A}" type="pres">
      <dgm:prSet presAssocID="{6BB6AFE1-EB79-49BC-9A9C-06EC8367033C}" presName="text" presStyleLbl="fgAcc0" presStyleIdx="1" presStyleCnt="3">
        <dgm:presLayoutVars>
          <dgm:chPref val="3"/>
        </dgm:presLayoutVars>
      </dgm:prSet>
      <dgm:spPr/>
    </dgm:pt>
    <dgm:pt modelId="{D56D6198-D6D5-4B70-96CE-88FE918B9B93}" type="pres">
      <dgm:prSet presAssocID="{6BB6AFE1-EB79-49BC-9A9C-06EC8367033C}" presName="hierChild2" presStyleCnt="0"/>
      <dgm:spPr/>
    </dgm:pt>
    <dgm:pt modelId="{6ADB18D4-1DA6-4C62-AECF-FAAE0556E164}" type="pres">
      <dgm:prSet presAssocID="{E0BBD98E-531E-4C89-87DB-9581D4A15CA3}" presName="hierRoot1" presStyleCnt="0"/>
      <dgm:spPr/>
    </dgm:pt>
    <dgm:pt modelId="{F986E997-F7D7-4782-87BF-29FD35566985}" type="pres">
      <dgm:prSet presAssocID="{E0BBD98E-531E-4C89-87DB-9581D4A15CA3}" presName="composite" presStyleCnt="0"/>
      <dgm:spPr/>
    </dgm:pt>
    <dgm:pt modelId="{B20BCE32-1AA5-462E-BE6F-510B7AFAE7A1}" type="pres">
      <dgm:prSet presAssocID="{E0BBD98E-531E-4C89-87DB-9581D4A15CA3}" presName="background" presStyleLbl="node0" presStyleIdx="2" presStyleCnt="3"/>
      <dgm:spPr/>
    </dgm:pt>
    <dgm:pt modelId="{2FBF1971-4B6D-4D77-BA48-B4C7829347AC}" type="pres">
      <dgm:prSet presAssocID="{E0BBD98E-531E-4C89-87DB-9581D4A15CA3}" presName="text" presStyleLbl="fgAcc0" presStyleIdx="2" presStyleCnt="3">
        <dgm:presLayoutVars>
          <dgm:chPref val="3"/>
        </dgm:presLayoutVars>
      </dgm:prSet>
      <dgm:spPr/>
    </dgm:pt>
    <dgm:pt modelId="{05C39B99-9CCA-48CA-A35D-EDB08DEA9840}" type="pres">
      <dgm:prSet presAssocID="{E0BBD98E-531E-4C89-87DB-9581D4A15CA3}" presName="hierChild2" presStyleCnt="0"/>
      <dgm:spPr/>
    </dgm:pt>
  </dgm:ptLst>
  <dgm:cxnLst>
    <dgm:cxn modelId="{5C51A224-00FC-4577-8C16-E648DC3011B3}" type="presOf" srcId="{E0BBD98E-531E-4C89-87DB-9581D4A15CA3}" destId="{2FBF1971-4B6D-4D77-BA48-B4C7829347AC}" srcOrd="0" destOrd="0" presId="urn:microsoft.com/office/officeart/2005/8/layout/hierarchy1"/>
    <dgm:cxn modelId="{EF937229-249D-45DA-BF01-81C0636AA652}" type="presOf" srcId="{1DE4E3AA-6901-49F5-BF5F-6CD08C2DA82B}" destId="{63EC6778-446D-4BD3-9308-23471043DA31}" srcOrd="0" destOrd="0" presId="urn:microsoft.com/office/officeart/2005/8/layout/hierarchy1"/>
    <dgm:cxn modelId="{40C9E34B-61C5-43D4-94C0-E0F28290FEA6}" srcId="{A6969A44-DB80-4A37-8CA1-F49DEA422A4F}" destId="{E0BBD98E-531E-4C89-87DB-9581D4A15CA3}" srcOrd="2" destOrd="0" parTransId="{D758760C-1BAB-4698-8747-11F283BE3114}" sibTransId="{17547C22-26B4-47D8-AB24-4905C9895756}"/>
    <dgm:cxn modelId="{6E086496-5861-420E-A5BE-F04E30AE3F1A}" srcId="{A6969A44-DB80-4A37-8CA1-F49DEA422A4F}" destId="{6BB6AFE1-EB79-49BC-9A9C-06EC8367033C}" srcOrd="1" destOrd="0" parTransId="{B6B2477B-33E2-464D-80D1-F90C7650921F}" sibTransId="{683167A5-1D4F-4305-A2E9-E3249AC81886}"/>
    <dgm:cxn modelId="{894935A9-8957-44B1-B232-D3EA87012711}" type="presOf" srcId="{6BB6AFE1-EB79-49BC-9A9C-06EC8367033C}" destId="{9E471AD7-8B93-4FF1-ABB8-B116DD63E77A}" srcOrd="0" destOrd="0" presId="urn:microsoft.com/office/officeart/2005/8/layout/hierarchy1"/>
    <dgm:cxn modelId="{4F3890E7-4D3D-44AB-99BC-6B3CBD495C51}" srcId="{A6969A44-DB80-4A37-8CA1-F49DEA422A4F}" destId="{1DE4E3AA-6901-49F5-BF5F-6CD08C2DA82B}" srcOrd="0" destOrd="0" parTransId="{30275F3C-A4BC-40D0-8780-87BCCBB05177}" sibTransId="{94BCDCF2-F55B-425A-B18A-932364F2D980}"/>
    <dgm:cxn modelId="{E618C8E9-79C2-496C-862A-3C04BB9D2B7E}" type="presOf" srcId="{A6969A44-DB80-4A37-8CA1-F49DEA422A4F}" destId="{C174BAAA-3FFE-4158-B282-A7162C188E27}" srcOrd="0" destOrd="0" presId="urn:microsoft.com/office/officeart/2005/8/layout/hierarchy1"/>
    <dgm:cxn modelId="{F49FC71E-2FB7-44E0-814B-A03DACB420EF}" type="presParOf" srcId="{C174BAAA-3FFE-4158-B282-A7162C188E27}" destId="{2ACCC20E-FEFA-4BBB-906A-0C9C2C4691B8}" srcOrd="0" destOrd="0" presId="urn:microsoft.com/office/officeart/2005/8/layout/hierarchy1"/>
    <dgm:cxn modelId="{60908C98-3B6A-438B-A29F-07DED5EA0B39}" type="presParOf" srcId="{2ACCC20E-FEFA-4BBB-906A-0C9C2C4691B8}" destId="{0A2AAEF1-73E8-4C22-9542-84BFBEE77D26}" srcOrd="0" destOrd="0" presId="urn:microsoft.com/office/officeart/2005/8/layout/hierarchy1"/>
    <dgm:cxn modelId="{B0102CFC-E061-4109-876D-2FF0CBF1712F}" type="presParOf" srcId="{0A2AAEF1-73E8-4C22-9542-84BFBEE77D26}" destId="{C6BF17FA-F12B-4B59-AD87-D21121637E22}" srcOrd="0" destOrd="0" presId="urn:microsoft.com/office/officeart/2005/8/layout/hierarchy1"/>
    <dgm:cxn modelId="{67E540C3-3311-473A-B1E5-96850FE5341C}" type="presParOf" srcId="{0A2AAEF1-73E8-4C22-9542-84BFBEE77D26}" destId="{63EC6778-446D-4BD3-9308-23471043DA31}" srcOrd="1" destOrd="0" presId="urn:microsoft.com/office/officeart/2005/8/layout/hierarchy1"/>
    <dgm:cxn modelId="{E30F0C3B-8129-4AF1-9CBD-5CDFAAC85235}" type="presParOf" srcId="{2ACCC20E-FEFA-4BBB-906A-0C9C2C4691B8}" destId="{2250B581-1FD7-4DA3-B07A-41AA11648392}" srcOrd="1" destOrd="0" presId="urn:microsoft.com/office/officeart/2005/8/layout/hierarchy1"/>
    <dgm:cxn modelId="{6878DC74-556F-4FEC-8C03-31FA9EA16BB4}" type="presParOf" srcId="{C174BAAA-3FFE-4158-B282-A7162C188E27}" destId="{F7BC77AA-1B7A-4015-A554-9D5ADE633644}" srcOrd="1" destOrd="0" presId="urn:microsoft.com/office/officeart/2005/8/layout/hierarchy1"/>
    <dgm:cxn modelId="{2D63342A-9D35-4CAF-A4D0-A1F6C4753B09}" type="presParOf" srcId="{F7BC77AA-1B7A-4015-A554-9D5ADE633644}" destId="{23AA8CAB-4652-479E-A972-365005E7171E}" srcOrd="0" destOrd="0" presId="urn:microsoft.com/office/officeart/2005/8/layout/hierarchy1"/>
    <dgm:cxn modelId="{C5BCD993-90DB-481F-8EEC-52CE1E608F3C}" type="presParOf" srcId="{23AA8CAB-4652-479E-A972-365005E7171E}" destId="{C4C9991E-CDB3-4F9E-A25A-FE9DD7736099}" srcOrd="0" destOrd="0" presId="urn:microsoft.com/office/officeart/2005/8/layout/hierarchy1"/>
    <dgm:cxn modelId="{DE5508DD-FCC1-4384-9807-DF43C90C011C}" type="presParOf" srcId="{23AA8CAB-4652-479E-A972-365005E7171E}" destId="{9E471AD7-8B93-4FF1-ABB8-B116DD63E77A}" srcOrd="1" destOrd="0" presId="urn:microsoft.com/office/officeart/2005/8/layout/hierarchy1"/>
    <dgm:cxn modelId="{62F5F0F7-7F7F-40C3-9DC9-DF717C28CE8A}" type="presParOf" srcId="{F7BC77AA-1B7A-4015-A554-9D5ADE633644}" destId="{D56D6198-D6D5-4B70-96CE-88FE918B9B93}" srcOrd="1" destOrd="0" presId="urn:microsoft.com/office/officeart/2005/8/layout/hierarchy1"/>
    <dgm:cxn modelId="{F2B45987-0275-4A1C-AEE8-BB99AC97A7AD}" type="presParOf" srcId="{C174BAAA-3FFE-4158-B282-A7162C188E27}" destId="{6ADB18D4-1DA6-4C62-AECF-FAAE0556E164}" srcOrd="2" destOrd="0" presId="urn:microsoft.com/office/officeart/2005/8/layout/hierarchy1"/>
    <dgm:cxn modelId="{9D71A8AB-47E2-4106-A4E5-897EDAD7E63C}" type="presParOf" srcId="{6ADB18D4-1DA6-4C62-AECF-FAAE0556E164}" destId="{F986E997-F7D7-4782-87BF-29FD35566985}" srcOrd="0" destOrd="0" presId="urn:microsoft.com/office/officeart/2005/8/layout/hierarchy1"/>
    <dgm:cxn modelId="{7AABF51F-A910-4C39-9A86-F071318B5910}" type="presParOf" srcId="{F986E997-F7D7-4782-87BF-29FD35566985}" destId="{B20BCE32-1AA5-462E-BE6F-510B7AFAE7A1}" srcOrd="0" destOrd="0" presId="urn:microsoft.com/office/officeart/2005/8/layout/hierarchy1"/>
    <dgm:cxn modelId="{6795347F-83DE-4653-BADE-C63E8FF7A678}" type="presParOf" srcId="{F986E997-F7D7-4782-87BF-29FD35566985}" destId="{2FBF1971-4B6D-4D77-BA48-B4C7829347AC}" srcOrd="1" destOrd="0" presId="urn:microsoft.com/office/officeart/2005/8/layout/hierarchy1"/>
    <dgm:cxn modelId="{7301191F-8B39-4772-AA07-52A859633D39}" type="presParOf" srcId="{6ADB18D4-1DA6-4C62-AECF-FAAE0556E164}" destId="{05C39B99-9CCA-48CA-A35D-EDB08DEA98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F17FA-F12B-4B59-AD87-D21121637E22}">
      <dsp:nvSpPr>
        <dsp:cNvPr id="0" name=""/>
        <dsp:cNvSpPr/>
      </dsp:nvSpPr>
      <dsp:spPr>
        <a:xfrm>
          <a:off x="230343" y="-94221"/>
          <a:ext cx="1865095" cy="11843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EC6778-446D-4BD3-9308-23471043DA31}">
      <dsp:nvSpPr>
        <dsp:cNvPr id="0" name=""/>
        <dsp:cNvSpPr/>
      </dsp:nvSpPr>
      <dsp:spPr>
        <a:xfrm>
          <a:off x="437576" y="102649"/>
          <a:ext cx="1865095" cy="11843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LifeSecure</a:t>
          </a:r>
          <a:r>
            <a:rPr lang="en-US" sz="1200" kern="1200" dirty="0"/>
            <a:t> rider claims were paid for Early-stage CI, despite the rider covering only Major CI</a:t>
          </a:r>
        </a:p>
      </dsp:txBody>
      <dsp:txXfrm>
        <a:off x="472264" y="137337"/>
        <a:ext cx="1795719" cy="1114959"/>
      </dsp:txXfrm>
    </dsp:sp>
    <dsp:sp modelId="{F9305390-7EB1-435C-9DB8-BA2DA608B21E}">
      <dsp:nvSpPr>
        <dsp:cNvPr id="0" name=""/>
        <dsp:cNvSpPr/>
      </dsp:nvSpPr>
      <dsp:spPr>
        <a:xfrm>
          <a:off x="3929317" y="-123723"/>
          <a:ext cx="1865095" cy="11843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E195D4-B981-4055-BAC6-29768D1E213C}">
      <dsp:nvSpPr>
        <dsp:cNvPr id="0" name=""/>
        <dsp:cNvSpPr/>
      </dsp:nvSpPr>
      <dsp:spPr>
        <a:xfrm>
          <a:off x="4136550" y="73147"/>
          <a:ext cx="1865095" cy="11843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LifeSecure</a:t>
          </a:r>
          <a:r>
            <a:rPr lang="en-US" sz="1200" kern="1200" dirty="0"/>
            <a:t> rider claims were paid for two claims</a:t>
          </a:r>
        </a:p>
      </dsp:txBody>
      <dsp:txXfrm>
        <a:off x="4171238" y="107835"/>
        <a:ext cx="1795719" cy="1114959"/>
      </dsp:txXfrm>
    </dsp:sp>
    <dsp:sp modelId="{C4C9991E-CDB3-4F9E-A25A-FE9DD7736099}">
      <dsp:nvSpPr>
        <dsp:cNvPr id="0" name=""/>
        <dsp:cNvSpPr/>
      </dsp:nvSpPr>
      <dsp:spPr>
        <a:xfrm>
          <a:off x="7610945" y="-110269"/>
          <a:ext cx="1865095" cy="11843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471AD7-8B93-4FF1-ABB8-B116DD63E77A}">
      <dsp:nvSpPr>
        <dsp:cNvPr id="0" name=""/>
        <dsp:cNvSpPr/>
      </dsp:nvSpPr>
      <dsp:spPr>
        <a:xfrm>
          <a:off x="7818178" y="86601"/>
          <a:ext cx="1865095" cy="11843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Claims paid for diagnoses occurring within the waiting period after policy issue date</a:t>
          </a:r>
        </a:p>
      </dsp:txBody>
      <dsp:txXfrm>
        <a:off x="7852866" y="121289"/>
        <a:ext cx="1795719" cy="1114959"/>
      </dsp:txXfrm>
    </dsp:sp>
    <dsp:sp modelId="{B20BCE32-1AA5-462E-BE6F-510B7AFAE7A1}">
      <dsp:nvSpPr>
        <dsp:cNvPr id="0" name=""/>
        <dsp:cNvSpPr/>
      </dsp:nvSpPr>
      <dsp:spPr>
        <a:xfrm>
          <a:off x="2240388" y="1915647"/>
          <a:ext cx="1865095" cy="11843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BF1971-4B6D-4D77-BA48-B4C7829347AC}">
      <dsp:nvSpPr>
        <dsp:cNvPr id="0" name=""/>
        <dsp:cNvSpPr/>
      </dsp:nvSpPr>
      <dsp:spPr>
        <a:xfrm>
          <a:off x="2447620" y="2112518"/>
          <a:ext cx="1865095" cy="11843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Claims paid where diagnosis occurred after policy had lapsed</a:t>
          </a:r>
        </a:p>
      </dsp:txBody>
      <dsp:txXfrm>
        <a:off x="2482308" y="2147206"/>
        <a:ext cx="1795719" cy="1114959"/>
      </dsp:txXfrm>
    </dsp:sp>
    <dsp:sp modelId="{A8F7DA2B-AD0B-43CC-ACFE-3C102D0A9105}">
      <dsp:nvSpPr>
        <dsp:cNvPr id="0" name=""/>
        <dsp:cNvSpPr/>
      </dsp:nvSpPr>
      <dsp:spPr>
        <a:xfrm>
          <a:off x="6024913" y="1915647"/>
          <a:ext cx="1865095" cy="11843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543FB4-CDDC-4329-9549-27A4F0A3A5CD}">
      <dsp:nvSpPr>
        <dsp:cNvPr id="0" name=""/>
        <dsp:cNvSpPr/>
      </dsp:nvSpPr>
      <dsp:spPr>
        <a:xfrm>
          <a:off x="6232146" y="2112518"/>
          <a:ext cx="1865095" cy="11843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Non-CI events are accepted (e.g. Common Cold) </a:t>
          </a:r>
          <a:endParaRPr lang="en-US" sz="1200" kern="1200" dirty="0"/>
        </a:p>
      </dsp:txBody>
      <dsp:txXfrm>
        <a:off x="6266834" y="2147206"/>
        <a:ext cx="1795719" cy="11149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F17FA-F12B-4B59-AD87-D21121637E22}">
      <dsp:nvSpPr>
        <dsp:cNvPr id="0" name=""/>
        <dsp:cNvSpPr/>
      </dsp:nvSpPr>
      <dsp:spPr>
        <a:xfrm>
          <a:off x="0" y="482236"/>
          <a:ext cx="3149501" cy="1999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EC6778-446D-4BD3-9308-23471043DA31}">
      <dsp:nvSpPr>
        <dsp:cNvPr id="0" name=""/>
        <dsp:cNvSpPr/>
      </dsp:nvSpPr>
      <dsp:spPr>
        <a:xfrm>
          <a:off x="349944" y="814683"/>
          <a:ext cx="3149501" cy="1999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Paid claims exist with no matching policy record in the policy database</a:t>
          </a:r>
          <a:endParaRPr lang="en-US" sz="2000" kern="1200" dirty="0"/>
        </a:p>
      </dsp:txBody>
      <dsp:txXfrm>
        <a:off x="408520" y="873259"/>
        <a:ext cx="3032349" cy="1882781"/>
      </dsp:txXfrm>
    </dsp:sp>
    <dsp:sp modelId="{C4C9991E-CDB3-4F9E-A25A-FE9DD7736099}">
      <dsp:nvSpPr>
        <dsp:cNvPr id="0" name=""/>
        <dsp:cNvSpPr/>
      </dsp:nvSpPr>
      <dsp:spPr>
        <a:xfrm>
          <a:off x="3849391" y="482236"/>
          <a:ext cx="3149501" cy="1999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471AD7-8B93-4FF1-ABB8-B116DD63E77A}">
      <dsp:nvSpPr>
        <dsp:cNvPr id="0" name=""/>
        <dsp:cNvSpPr/>
      </dsp:nvSpPr>
      <dsp:spPr>
        <a:xfrm>
          <a:off x="4199335" y="814683"/>
          <a:ext cx="3149501" cy="1999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Demographics (Gender, DOB) are different between policy and claims database</a:t>
          </a:r>
          <a:endParaRPr lang="en-US" sz="2000" kern="1200" dirty="0"/>
        </a:p>
      </dsp:txBody>
      <dsp:txXfrm>
        <a:off x="4257911" y="873259"/>
        <a:ext cx="3032349" cy="1882781"/>
      </dsp:txXfrm>
    </dsp:sp>
    <dsp:sp modelId="{B20BCE32-1AA5-462E-BE6F-510B7AFAE7A1}">
      <dsp:nvSpPr>
        <dsp:cNvPr id="0" name=""/>
        <dsp:cNvSpPr/>
      </dsp:nvSpPr>
      <dsp:spPr>
        <a:xfrm>
          <a:off x="7698782" y="482236"/>
          <a:ext cx="3149501" cy="1999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BF1971-4B6D-4D77-BA48-B4C7829347AC}">
      <dsp:nvSpPr>
        <dsp:cNvPr id="0" name=""/>
        <dsp:cNvSpPr/>
      </dsp:nvSpPr>
      <dsp:spPr>
        <a:xfrm>
          <a:off x="8048727" y="814683"/>
          <a:ext cx="3149501" cy="1999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Missing input validation allows physically impossible metrics and invalid categorization codes to enter the system</a:t>
          </a:r>
          <a:endParaRPr lang="en-US" sz="2000" kern="1200" dirty="0"/>
        </a:p>
      </dsp:txBody>
      <dsp:txXfrm>
        <a:off x="8107303" y="873259"/>
        <a:ext cx="3032349" cy="188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F17FA-F12B-4B59-AD87-D21121637E22}">
      <dsp:nvSpPr>
        <dsp:cNvPr id="0" name=""/>
        <dsp:cNvSpPr/>
      </dsp:nvSpPr>
      <dsp:spPr>
        <a:xfrm>
          <a:off x="0" y="482236"/>
          <a:ext cx="3149501" cy="1999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EC6778-446D-4BD3-9308-23471043DA31}">
      <dsp:nvSpPr>
        <dsp:cNvPr id="0" name=""/>
        <dsp:cNvSpPr/>
      </dsp:nvSpPr>
      <dsp:spPr>
        <a:xfrm>
          <a:off x="349944" y="814683"/>
          <a:ext cx="3149501" cy="1999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Hard-code policy terms (e.g., </a:t>
          </a:r>
          <a:r>
            <a:rPr lang="en-SG" sz="2000" kern="1200" dirty="0" err="1"/>
            <a:t>LifeSecure</a:t>
          </a:r>
          <a:r>
            <a:rPr lang="en-SG" sz="2000" kern="1200" dirty="0"/>
            <a:t> = Major CI only) directly into the claims approval system</a:t>
          </a:r>
          <a:endParaRPr lang="en-US" sz="2000" kern="1200" dirty="0"/>
        </a:p>
      </dsp:txBody>
      <dsp:txXfrm>
        <a:off x="408520" y="873259"/>
        <a:ext cx="3032349" cy="1882781"/>
      </dsp:txXfrm>
    </dsp:sp>
    <dsp:sp modelId="{C4C9991E-CDB3-4F9E-A25A-FE9DD7736099}">
      <dsp:nvSpPr>
        <dsp:cNvPr id="0" name=""/>
        <dsp:cNvSpPr/>
      </dsp:nvSpPr>
      <dsp:spPr>
        <a:xfrm>
          <a:off x="3849391" y="482236"/>
          <a:ext cx="3149501" cy="1999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471AD7-8B93-4FF1-ABB8-B116DD63E77A}">
      <dsp:nvSpPr>
        <dsp:cNvPr id="0" name=""/>
        <dsp:cNvSpPr/>
      </dsp:nvSpPr>
      <dsp:spPr>
        <a:xfrm>
          <a:off x="4199335" y="814683"/>
          <a:ext cx="3149501" cy="1999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Implement a daily automated check preventing claims approval from overriding a 'Lapsed' status</a:t>
          </a:r>
          <a:endParaRPr lang="en-US" sz="2000" kern="1200" dirty="0"/>
        </a:p>
      </dsp:txBody>
      <dsp:txXfrm>
        <a:off x="4257911" y="873259"/>
        <a:ext cx="3032349" cy="1882781"/>
      </dsp:txXfrm>
    </dsp:sp>
    <dsp:sp modelId="{B20BCE32-1AA5-462E-BE6F-510B7AFAE7A1}">
      <dsp:nvSpPr>
        <dsp:cNvPr id="0" name=""/>
        <dsp:cNvSpPr/>
      </dsp:nvSpPr>
      <dsp:spPr>
        <a:xfrm>
          <a:off x="7698782" y="482236"/>
          <a:ext cx="3149501" cy="1999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BF1971-4B6D-4D77-BA48-B4C7829347AC}">
      <dsp:nvSpPr>
        <dsp:cNvPr id="0" name=""/>
        <dsp:cNvSpPr/>
      </dsp:nvSpPr>
      <dsp:spPr>
        <a:xfrm>
          <a:off x="8048727" y="814683"/>
          <a:ext cx="3149501" cy="1999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Deploy a quarterly dashboard to track portfolio incidence and flag operational anomalies in real-time</a:t>
          </a:r>
          <a:endParaRPr lang="en-US" sz="2000" kern="1200" dirty="0"/>
        </a:p>
      </dsp:txBody>
      <dsp:txXfrm>
        <a:off x="8107303" y="873259"/>
        <a:ext cx="3032349" cy="18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7832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296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4726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4455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2870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8597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5936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312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5313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557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2323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6360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2891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SG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1958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3321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6776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6237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206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7346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9675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1566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3328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175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8336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17685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5143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5719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DD7C921-D2A6-4467-BE29-84412DFA98F3}" type="datetimeFigureOut">
              <a:rPr lang="en-SG" smtClean="0"/>
              <a:t>9/10/2026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AE4996BD-F327-4E1C-BA7D-71758CEFB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963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6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5E19C-27E4-E0E3-DD52-D5C71FDC8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0B535C-5FAD-7EF0-B4BB-EC4C071A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497" y="2673016"/>
            <a:ext cx="9847005" cy="1771650"/>
          </a:xfrm>
          <a:solidFill>
            <a:srgbClr val="12569B"/>
          </a:solidFill>
        </p:spPr>
        <p:txBody>
          <a:bodyPr anchor="b">
            <a:normAutofit fontScale="90000"/>
          </a:bodyPr>
          <a:lstStyle/>
          <a:p>
            <a:r>
              <a:rPr lang="en-SG" sz="6000" b="1" dirty="0">
                <a:solidFill>
                  <a:srgbClr val="FAA61A"/>
                </a:solidFill>
              </a:rPr>
              <a:t>Meridian Life’s Critical Illness (CI) portfolio (2000–2025) Review</a:t>
            </a:r>
            <a:endParaRPr lang="en-SG" sz="5600" b="1" dirty="0">
              <a:solidFill>
                <a:srgbClr val="FAA6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9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6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F529D5-9C22-2FF8-AEF4-35D6BC8B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"/>
            <a:ext cx="9847005" cy="1771650"/>
          </a:xfrm>
        </p:spPr>
        <p:txBody>
          <a:bodyPr anchor="b">
            <a:normAutofit/>
          </a:bodyPr>
          <a:lstStyle/>
          <a:p>
            <a:r>
              <a:rPr lang="en-US" sz="5600" b="1" dirty="0">
                <a:solidFill>
                  <a:srgbClr val="FAA61A"/>
                </a:solidFill>
              </a:rPr>
              <a:t>CI Incidence Rates </a:t>
            </a:r>
            <a:br>
              <a:rPr lang="en-US" sz="5600" b="1" dirty="0">
                <a:solidFill>
                  <a:srgbClr val="FAA61A"/>
                </a:solidFill>
              </a:rPr>
            </a:br>
            <a:r>
              <a:rPr lang="en-US" sz="5600" b="1" dirty="0">
                <a:solidFill>
                  <a:srgbClr val="FAA61A"/>
                </a:solidFill>
              </a:rPr>
              <a:t>(2000-2025)</a:t>
            </a:r>
            <a:endParaRPr lang="en-SG" sz="5600" b="1" dirty="0">
              <a:solidFill>
                <a:srgbClr val="FAA61A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360867-9692-F3A4-1FE9-695A5B6E616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638533645"/>
              </p:ext>
            </p:extLst>
          </p:nvPr>
        </p:nvGraphicFramePr>
        <p:xfrm>
          <a:off x="802106" y="2277979"/>
          <a:ext cx="10587788" cy="3384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947">
                  <a:extLst>
                    <a:ext uri="{9D8B030D-6E8A-4147-A177-3AD203B41FA5}">
                      <a16:colId xmlns:a16="http://schemas.microsoft.com/office/drawing/2014/main" val="677602298"/>
                    </a:ext>
                  </a:extLst>
                </a:gridCol>
                <a:gridCol w="2646947">
                  <a:extLst>
                    <a:ext uri="{9D8B030D-6E8A-4147-A177-3AD203B41FA5}">
                      <a16:colId xmlns:a16="http://schemas.microsoft.com/office/drawing/2014/main" val="3090909369"/>
                    </a:ext>
                  </a:extLst>
                </a:gridCol>
                <a:gridCol w="2646947">
                  <a:extLst>
                    <a:ext uri="{9D8B030D-6E8A-4147-A177-3AD203B41FA5}">
                      <a16:colId xmlns:a16="http://schemas.microsoft.com/office/drawing/2014/main" val="1351826958"/>
                    </a:ext>
                  </a:extLst>
                </a:gridCol>
                <a:gridCol w="2646947">
                  <a:extLst>
                    <a:ext uri="{9D8B030D-6E8A-4147-A177-3AD203B41FA5}">
                      <a16:colId xmlns:a16="http://schemas.microsoft.com/office/drawing/2014/main" val="3786733974"/>
                    </a:ext>
                  </a:extLst>
                </a:gridCol>
              </a:tblGrid>
              <a:tr h="10641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6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Valid Claims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6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 Exposure Years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6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Incidence Rate (per 1000)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07500"/>
                  </a:ext>
                </a:extLst>
              </a:tr>
              <a:tr h="1160379">
                <a:tc>
                  <a:txBody>
                    <a:bodyPr/>
                    <a:lstStyle/>
                    <a:p>
                      <a:pPr algn="ctr"/>
                      <a:r>
                        <a:rPr lang="en-SG" dirty="0" err="1"/>
                        <a:t>VitalCare</a:t>
                      </a:r>
                      <a:r>
                        <a:rPr lang="en-SG" dirty="0"/>
                        <a:t> Critical Illness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196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38323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5.11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16352"/>
                  </a:ext>
                </a:extLst>
              </a:tr>
              <a:tr h="1160379">
                <a:tc>
                  <a:txBody>
                    <a:bodyPr/>
                    <a:lstStyle/>
                    <a:p>
                      <a:pPr algn="ctr"/>
                      <a:r>
                        <a:rPr lang="en-SG" dirty="0" err="1"/>
                        <a:t>LifeSecure</a:t>
                      </a:r>
                      <a:r>
                        <a:rPr lang="en-SG" dirty="0"/>
                        <a:t> Critical Illness Rider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33712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2.94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84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8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6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1BFE0-BA8B-5A86-8330-3E66067D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38E68C-BE52-E7BD-3664-80155CD2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58" y="758952"/>
            <a:ext cx="11001943" cy="1790700"/>
          </a:xfrm>
        </p:spPr>
        <p:txBody>
          <a:bodyPr anchor="t">
            <a:normAutofit/>
          </a:bodyPr>
          <a:lstStyle/>
          <a:p>
            <a:pPr algn="ctr"/>
            <a:r>
              <a:rPr lang="en-US" sz="6100" b="1" dirty="0">
                <a:solidFill>
                  <a:srgbClr val="FAA61A"/>
                </a:solidFill>
              </a:rPr>
              <a:t>Claims approved outside policy terms</a:t>
            </a:r>
            <a:endParaRPr lang="en-SG" sz="6100" b="1" dirty="0">
              <a:solidFill>
                <a:srgbClr val="FAA61A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327ACB7-087F-FADF-D0CD-FEA1FC3F2E4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16773434"/>
              </p:ext>
            </p:extLst>
          </p:nvPr>
        </p:nvGraphicFramePr>
        <p:xfrm>
          <a:off x="1141255" y="2746298"/>
          <a:ext cx="11198229" cy="329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548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6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E88BC-D796-06A9-85D9-ACB7D250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DAC911-FFC7-C094-573D-32BF50D7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58" y="758952"/>
            <a:ext cx="11001943" cy="1790700"/>
          </a:xfrm>
        </p:spPr>
        <p:txBody>
          <a:bodyPr anchor="t">
            <a:normAutofit/>
          </a:bodyPr>
          <a:lstStyle/>
          <a:p>
            <a:pPr algn="ctr"/>
            <a:r>
              <a:rPr lang="en-US" sz="6100" b="1" dirty="0">
                <a:solidFill>
                  <a:srgbClr val="FAA61A"/>
                </a:solidFill>
              </a:rPr>
              <a:t>Problems with Data System</a:t>
            </a:r>
            <a:endParaRPr lang="en-SG" sz="6100" b="1" dirty="0">
              <a:solidFill>
                <a:srgbClr val="FAA61A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4210940-B2CD-5753-D1A1-A9B7A06F5A4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98822358"/>
              </p:ext>
            </p:extLst>
          </p:nvPr>
        </p:nvGraphicFramePr>
        <p:xfrm>
          <a:off x="580816" y="2659921"/>
          <a:ext cx="11198229" cy="329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7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56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08125-B553-98DC-5C68-8A2E6954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26A0D-26A2-27B2-BC2A-7ABA3724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58" y="758952"/>
            <a:ext cx="11001943" cy="1790700"/>
          </a:xfrm>
        </p:spPr>
        <p:txBody>
          <a:bodyPr anchor="t">
            <a:normAutofit/>
          </a:bodyPr>
          <a:lstStyle/>
          <a:p>
            <a:pPr algn="ctr"/>
            <a:r>
              <a:rPr lang="en-US" sz="6600" b="1" dirty="0">
                <a:solidFill>
                  <a:srgbClr val="FAA61A"/>
                </a:solidFill>
              </a:rPr>
              <a:t>Recommendations</a:t>
            </a:r>
            <a:endParaRPr lang="en-SG" sz="6100" b="1" dirty="0">
              <a:solidFill>
                <a:srgbClr val="FAA61A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5F9FD00-9D76-63AD-C573-AECAD6888B8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18965317"/>
              </p:ext>
            </p:extLst>
          </p:nvPr>
        </p:nvGraphicFramePr>
        <p:xfrm>
          <a:off x="580816" y="2659921"/>
          <a:ext cx="11198229" cy="329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7626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38</TotalTime>
  <Words>201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Dune</vt:lpstr>
      <vt:lpstr>Meridian Life’s Critical Illness (CI) portfolio (2000–2025) Review</vt:lpstr>
      <vt:lpstr>CI Incidence Rates  (2000-2025)</vt:lpstr>
      <vt:lpstr>Claims approved outside policy terms</vt:lpstr>
      <vt:lpstr>Problems with Data System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 tung</dc:creator>
  <cp:lastModifiedBy>en tung</cp:lastModifiedBy>
  <cp:revision>2</cp:revision>
  <dcterms:created xsi:type="dcterms:W3CDTF">2026-10-08T22:22:58Z</dcterms:created>
  <dcterms:modified xsi:type="dcterms:W3CDTF">2026-10-09T00:12:08Z</dcterms:modified>
</cp:coreProperties>
</file>